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2545"/>
                </a:solidFill>
                <a:latin typeface="Arial"/>
              </a:rPr>
              <a:t>Class balance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bubble3D val="0"/>
            <c:spPr>
              <a:solidFill>
                <a:srgbClr val="2A9D8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Phishing</c:v>
                </c:pt>
                <c:pt idx="1">
                  <c:v>Legitimate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5000</c:v>
                </c:pt>
                <c:pt idx="1">
                  <c:v>5000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2545"/>
                </a:solidFill>
                <a:latin typeface="Arial"/>
              </a:rPr>
              <a:t>Split of 10,000 rows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Train (80%)</c:v>
                  </c:pt>
                  <c:pt idx="1">
                    <c:v>Test (20%)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8000</c:v>
                </c:pt>
                <c:pt idx="1">
                  <c:v>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00"/>
        </c:scaling>
        <c:delete val="0"/>
        <c:axPos val="l"/>
        <c:majorGridlines>
          <c:spPr>
            <a:ln w="6350" cap="flat">
              <a:solidFill>
                <a:srgbClr val="E5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91440" cy="17373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118872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Website Detection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Artificial Neural Network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560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Lab – Mini Project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TensorFlow/Keras · Scikit-learn · Streamlit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____________     Roll No: ______     Guide: 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160020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73152" cy="16002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002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websites copy trusted sites to steal passwords, card numbers and personal data.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3931920" cy="160020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143000"/>
            <a:ext cx="73152" cy="1600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834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blacklists fail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6002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phishing sites appear every day; a blacklist only knows sites already reported.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3931920" cy="160020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71800"/>
            <a:ext cx="73152" cy="1600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4290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 ANN on 12 URL / domain features to classify a site as Phishing or Legitimate.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971800"/>
            <a:ext cx="3931920" cy="160020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971800"/>
            <a:ext cx="73152" cy="1600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8348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 the user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34290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Prediction, confidence %, risk level (Low / Medium / High) and a recommendation.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Dataset for Machine Learning (Kaggle)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rows: 5,000 phishing + 5,000 legitimate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numeric features (counts, 0/1 flags, fractions)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CLASS_LABEL flipped: 1→0 (Phishing), 0→1 (Legitimate)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features used; CSV = tabular storage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0" y="1005840"/>
          <a:ext cx="36576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 Selected Features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4114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counts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2560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NumDots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SubdomainLevel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PathLevel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UrlLength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NumDash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NumNumericChars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743200" cy="4114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9184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flags &amp; words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645920"/>
            <a:ext cx="2651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AtSymbol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NoHttps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IpAddress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NumSensitiveWords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2377440" cy="4114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1097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&amp; links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1645920"/>
            <a:ext cx="2286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HostnameLength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PctExtHyperlinks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Pipeline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051560" cy="10058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463040"/>
            <a:ext cx="105156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phishing.csv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27048" y="1965960"/>
            <a:ext cx="108204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653540" y="1463040"/>
            <a:ext cx="1051560" cy="10058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53540" y="1463040"/>
            <a:ext cx="105156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check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+ 12 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23388" y="1965960"/>
            <a:ext cx="108204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49880" y="1463040"/>
            <a:ext cx="1051560" cy="10058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849880" y="1463040"/>
            <a:ext cx="105156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flip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1→0, 0→1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19728" y="1965960"/>
            <a:ext cx="108204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046220" y="1463040"/>
            <a:ext cx="1051560" cy="10058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046220" y="1463040"/>
            <a:ext cx="105156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80:20 split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Scaler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16068" y="1965960"/>
            <a:ext cx="108204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242560" y="1463040"/>
            <a:ext cx="1051560" cy="10058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42560" y="1463040"/>
            <a:ext cx="105156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train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epochs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12408" y="1965960"/>
            <a:ext cx="108204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38900" y="1463040"/>
            <a:ext cx="1051560" cy="10058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38900" y="1463040"/>
            <a:ext cx="105156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scaler.pkl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08748" y="1965960"/>
            <a:ext cx="108204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635240" y="1463040"/>
            <a:ext cx="1051560" cy="10058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635240" y="1463040"/>
            <a:ext cx="105156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2926080"/>
            <a:ext cx="2651760" cy="164592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926080"/>
            <a:ext cx="73152" cy="1645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33832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CSV, null check, select 12 features, stratified 80:20 split, StandardScaler.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46120" y="2926080"/>
            <a:ext cx="2651760" cy="164592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46120" y="2926080"/>
            <a:ext cx="73152" cy="1645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47472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474720" y="33832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binary cross-entropy, 25 epochs, batch 32, 10% validation.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35040" y="2926080"/>
            <a:ext cx="2651760" cy="164592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35040" y="2926080"/>
            <a:ext cx="73152" cy="1645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26364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263640" y="33832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predict_website() + 4-page Streamlit app.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78408" y="1252728"/>
            <a:ext cx="237744" cy="237744"/>
          </a:xfrm>
          <a:prstGeom prst="ellipse">
            <a:avLst/>
          </a:prstGeom>
          <a:solidFill>
            <a:srgbClr val="8DA9C4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1566237"/>
            <a:ext cx="237744" cy="237744"/>
          </a:xfrm>
          <a:prstGeom prst="ellipse">
            <a:avLst/>
          </a:prstGeom>
          <a:solidFill>
            <a:srgbClr val="8DA9C4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879745"/>
            <a:ext cx="237744" cy="237744"/>
          </a:xfrm>
          <a:prstGeom prst="ellipse">
            <a:avLst/>
          </a:prstGeom>
          <a:solidFill>
            <a:srgbClr val="8DA9C4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2193254"/>
            <a:ext cx="237744" cy="237744"/>
          </a:xfrm>
          <a:prstGeom prst="ellipse">
            <a:avLst/>
          </a:prstGeom>
          <a:solidFill>
            <a:srgbClr val="8DA9C4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" y="2506762"/>
            <a:ext cx="237744" cy="237744"/>
          </a:xfrm>
          <a:prstGeom prst="ellipse">
            <a:avLst/>
          </a:prstGeom>
          <a:solidFill>
            <a:srgbClr val="8DA9C4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" y="2820271"/>
            <a:ext cx="237744" cy="237744"/>
          </a:xfrm>
          <a:prstGeom prst="ellipse">
            <a:avLst/>
          </a:prstGeom>
          <a:solidFill>
            <a:srgbClr val="8DA9C4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8408" y="3133779"/>
            <a:ext cx="237744" cy="237744"/>
          </a:xfrm>
          <a:prstGeom prst="ellipse">
            <a:avLst/>
          </a:prstGeom>
          <a:solidFill>
            <a:srgbClr val="8DA9C4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8408" y="3447288"/>
            <a:ext cx="237744" cy="237744"/>
          </a:xfrm>
          <a:prstGeom prst="ellipse">
            <a:avLst/>
          </a:prstGeom>
          <a:solidFill>
            <a:srgbClr val="8DA9C4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" y="3657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90088" y="1252728"/>
            <a:ext cx="237744" cy="237744"/>
          </a:xfrm>
          <a:prstGeom prst="ellipse">
            <a:avLst/>
          </a:prstGeom>
          <a:solidFill>
            <a:srgbClr val="2A9D8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90088" y="1566237"/>
            <a:ext cx="237744" cy="237744"/>
          </a:xfrm>
          <a:prstGeom prst="ellipse">
            <a:avLst/>
          </a:prstGeom>
          <a:solidFill>
            <a:srgbClr val="2A9D8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90088" y="1879745"/>
            <a:ext cx="237744" cy="237744"/>
          </a:xfrm>
          <a:prstGeom prst="ellipse">
            <a:avLst/>
          </a:prstGeom>
          <a:solidFill>
            <a:srgbClr val="2A9D8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90088" y="2193254"/>
            <a:ext cx="237744" cy="237744"/>
          </a:xfrm>
          <a:prstGeom prst="ellipse">
            <a:avLst/>
          </a:prstGeom>
          <a:solidFill>
            <a:srgbClr val="2A9D8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90088" y="2506762"/>
            <a:ext cx="237744" cy="237744"/>
          </a:xfrm>
          <a:prstGeom prst="ellipse">
            <a:avLst/>
          </a:prstGeom>
          <a:solidFill>
            <a:srgbClr val="2A9D8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90088" y="2820271"/>
            <a:ext cx="237744" cy="237744"/>
          </a:xfrm>
          <a:prstGeom prst="ellipse">
            <a:avLst/>
          </a:prstGeom>
          <a:solidFill>
            <a:srgbClr val="2A9D8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90088" y="3133779"/>
            <a:ext cx="237744" cy="237744"/>
          </a:xfrm>
          <a:prstGeom prst="ellipse">
            <a:avLst/>
          </a:prstGeom>
          <a:solidFill>
            <a:srgbClr val="2A9D8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90088" y="3447288"/>
            <a:ext cx="237744" cy="237744"/>
          </a:xfrm>
          <a:prstGeom prst="ellipse">
            <a:avLst/>
          </a:prstGeom>
          <a:solidFill>
            <a:srgbClr val="2A9D8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286000" y="3657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ReLU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01768" y="1252728"/>
            <a:ext cx="237744" cy="237744"/>
          </a:xfrm>
          <a:prstGeom prst="ellipse">
            <a:avLst/>
          </a:prstGeom>
          <a:solidFill>
            <a:srgbClr val="2A9D8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01768" y="1566237"/>
            <a:ext cx="237744" cy="237744"/>
          </a:xfrm>
          <a:prstGeom prst="ellipse">
            <a:avLst/>
          </a:prstGeom>
          <a:solidFill>
            <a:srgbClr val="2A9D8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01768" y="1879745"/>
            <a:ext cx="237744" cy="237744"/>
          </a:xfrm>
          <a:prstGeom prst="ellipse">
            <a:avLst/>
          </a:prstGeom>
          <a:solidFill>
            <a:srgbClr val="2A9D8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01768" y="2193254"/>
            <a:ext cx="237744" cy="237744"/>
          </a:xfrm>
          <a:prstGeom prst="ellipse">
            <a:avLst/>
          </a:prstGeom>
          <a:solidFill>
            <a:srgbClr val="2A9D8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01768" y="2506762"/>
            <a:ext cx="237744" cy="237744"/>
          </a:xfrm>
          <a:prstGeom prst="ellipse">
            <a:avLst/>
          </a:prstGeom>
          <a:solidFill>
            <a:srgbClr val="2A9D8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01768" y="2820271"/>
            <a:ext cx="237744" cy="237744"/>
          </a:xfrm>
          <a:prstGeom prst="ellipse">
            <a:avLst/>
          </a:prstGeom>
          <a:solidFill>
            <a:srgbClr val="2A9D8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01768" y="3133779"/>
            <a:ext cx="237744" cy="237744"/>
          </a:xfrm>
          <a:prstGeom prst="ellipse">
            <a:avLst/>
          </a:prstGeom>
          <a:solidFill>
            <a:srgbClr val="2A9D8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01768" y="3447288"/>
            <a:ext cx="237744" cy="237744"/>
          </a:xfrm>
          <a:prstGeom prst="ellipse">
            <a:avLst/>
          </a:prstGeom>
          <a:solidFill>
            <a:srgbClr val="2A9D8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297680" y="3657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ReLU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013448" y="2350008"/>
            <a:ext cx="237744" cy="237744"/>
          </a:xfrm>
          <a:prstGeom prst="ellipse">
            <a:avLst/>
          </a:prstGeom>
          <a:solidFill>
            <a:srgbClr val="E63946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09360" y="3657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Sigmoid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Circles show up to 8 neurons per layer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863840" y="1828800"/>
            <a:ext cx="1188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353</a:t>
            </a:r>
            <a:endParaRPr lang="en-US" sz="3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parameters</a:t>
            </a:r>
            <a:endParaRPr lang="en-US" sz="3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+ 136 + 9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4805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8346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cross-entropy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StandardScaler (train only)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5212080" y="1005840"/>
          <a:ext cx="35661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&amp; Risk Levels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predict_website(features_dict) → prediction · confidence · risk level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output p = P(Legitimate).  Risk score = (1 − p) × 100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560320" cy="21945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103120"/>
            <a:ext cx="2560320" cy="2194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2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30</a:t>
            </a:r>
            <a:endParaRPr lang="en-US" sz="2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likely legitimate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291840" y="2103120"/>
            <a:ext cx="2560320" cy="21945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91840" y="2103120"/>
            <a:ext cx="2560320" cy="2194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2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– 70</a:t>
            </a:r>
            <a:endParaRPr lang="en-US" sz="2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manually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126480" y="2103120"/>
            <a:ext cx="2560320" cy="21945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26480" y="2103120"/>
            <a:ext cx="2560320" cy="2194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2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– 100</a:t>
            </a:r>
            <a:endParaRPr lang="en-US" sz="2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likely phishing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Application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160020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73152" cy="1600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Home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002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model summary, usage steps.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3931920" cy="160020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143000"/>
            <a:ext cx="73152" cy="1600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834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URL Feature Input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6002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numeric inputs + one-click legitimate / phishing examples.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3931920" cy="160020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71800"/>
            <a:ext cx="73152" cy="16002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Prediction Report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4290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Verdict, confidence %, risk meter, suspicious-feature checklist, recommendation.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971800"/>
            <a:ext cx="3931920" cy="160020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971800"/>
            <a:ext cx="73152" cy="1600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8348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Analytics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34290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class pie, heatmap, distributions, training curves, confusion matrix.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Relevance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160020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73152" cy="1600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/ lists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002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12-value feature vector; FEATURES list; NumPy arrays. Index access O(1).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3931920" cy="160020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143000"/>
            <a:ext cx="73152" cy="16002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834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6002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analysis: length, dots, digits, '@', '-', IP host, sub-domains.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3931920" cy="160020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71800"/>
            <a:ext cx="73152" cy="1600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maps (dict)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4290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{feature: value} input to predict_website(); FEATURE_INFO lookup. Average O(1).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971800"/>
            <a:ext cx="3931920" cy="160020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971800"/>
            <a:ext cx="73152" cy="1600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8348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tabular storage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34290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phishing.csv rows × columns loaded into a DataFrame.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 python src/train.py  on the real dataset, then fill in from assets/metrics.json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920240" cy="1371600"/>
          </a:xfrm>
          <a:prstGeom prst="rect">
            <a:avLst/>
          </a:prstGeom>
          <a:solidFill>
            <a:srgbClr val="F4F7FA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4592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 %</a:t>
            </a:r>
            <a:endParaRPr lang="en-US" sz="2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560320" y="1645920"/>
            <a:ext cx="1920240" cy="1371600"/>
          </a:xfrm>
          <a:prstGeom prst="rect">
            <a:avLst/>
          </a:prstGeom>
          <a:solidFill>
            <a:srgbClr val="F4F7FA"/>
          </a:solidFill>
          <a:ln w="254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64592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 %</a:t>
            </a:r>
            <a:endParaRPr lang="en-US" sz="2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663440" y="1645920"/>
            <a:ext cx="1920240" cy="1371600"/>
          </a:xfrm>
          <a:prstGeom prst="rect">
            <a:avLst/>
          </a:prstGeom>
          <a:solidFill>
            <a:srgbClr val="F4F7FA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64592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 %</a:t>
            </a:r>
            <a:endParaRPr lang="en-US" sz="2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766560" y="1645920"/>
            <a:ext cx="1920240" cy="1371600"/>
          </a:xfrm>
          <a:prstGeom prst="rect">
            <a:avLst/>
          </a:prstGeom>
          <a:solidFill>
            <a:srgbClr val="F4F7FA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64592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 %</a:t>
            </a:r>
            <a:endParaRPr lang="en-US" sz="2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in /assets: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confusion_matrix.png · training_curves.png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class_distribution.png · correlation_heatmap.png · feature_distributions.png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338328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73152" cy="33832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0020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12-16-8-1 ANN on 12 easy features can flag phishing sites.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runs from CSV to a user-friendly report in a few short modules.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strings, hash maps and CSV files underpin every step.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3931920" cy="338328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143000"/>
            <a:ext cx="73152" cy="33832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834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60020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features directly from a raw URL string.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all 30 features; compare Random Forest / XGBoost.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 or REST API.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(SHAP/LIME) and retraining on new data.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Website Detection using ANN</dc:title>
  <dc:subject>PptxGenJS Presentation</dc:subject>
  <dc:creator>PptxGenJS</dc:creator>
  <cp:lastModifiedBy>PptxGenJS</cp:lastModifiedBy>
  <cp:revision>1</cp:revision>
  <dcterms:created xsi:type="dcterms:W3CDTF">2026-09-28T10:11:47Z</dcterms:created>
  <dcterms:modified xsi:type="dcterms:W3CDTF">2026-09-28T10:11:47Z</dcterms:modified>
</cp:coreProperties>
</file>